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52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8997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kIOx4a-NQEs?feature=oembed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2D35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303520" y="0"/>
            <a:ext cx="54864" cy="5143500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321040" y="411480"/>
            <a:ext cx="82296" cy="82296"/>
          </a:xfrm>
          <a:prstGeom prst="ellipse">
            <a:avLst/>
          </a:prstGeom>
          <a:solidFill>
            <a:srgbClr val="E8572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41080" y="411480"/>
            <a:ext cx="82296" cy="82296"/>
          </a:xfrm>
          <a:prstGeom prst="ellipse">
            <a:avLst/>
          </a:prstGeom>
          <a:solidFill>
            <a:srgbClr val="E8572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21040" y="685800"/>
            <a:ext cx="82296" cy="82296"/>
          </a:xfrm>
          <a:prstGeom prst="ellipse">
            <a:avLst/>
          </a:prstGeom>
          <a:solidFill>
            <a:srgbClr val="E8572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641080" y="685800"/>
            <a:ext cx="82296" cy="82296"/>
          </a:xfrm>
          <a:prstGeom prst="ellipse">
            <a:avLst/>
          </a:prstGeom>
          <a:solidFill>
            <a:srgbClr val="E8572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961120" y="411480"/>
            <a:ext cx="82296" cy="82296"/>
          </a:xfrm>
          <a:prstGeom prst="ellipse">
            <a:avLst/>
          </a:prstGeom>
          <a:solidFill>
            <a:srgbClr val="E8572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961120" y="685800"/>
            <a:ext cx="82296" cy="82296"/>
          </a:xfrm>
          <a:prstGeom prst="ellipse">
            <a:avLst/>
          </a:prstGeom>
          <a:solidFill>
            <a:srgbClr val="E8572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82296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Suite</a:t>
            </a:r>
            <a:endParaRPr lang="en-US" sz="5200" dirty="0"/>
          </a:p>
        </p:txBody>
      </p:sp>
      <p:sp>
        <p:nvSpPr>
          <p:cNvPr id="11" name="Shape 9"/>
          <p:cNvSpPr/>
          <p:nvPr/>
        </p:nvSpPr>
        <p:spPr>
          <a:xfrm>
            <a:off x="502920" y="3154680"/>
            <a:ext cx="2560320" cy="50292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1463040" cy="27432"/>
          </a:xfrm>
          <a:prstGeom prst="rect">
            <a:avLst/>
          </a:prstGeom>
          <a:solidFill>
            <a:srgbClr val="E8572A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340156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8B8A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Automated UI Testing with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C8B8A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Selenium WebDriver &amp; TestNG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4663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Lujens Pierre  ·  Micah Hodges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1005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300" dirty="0">
                <a:solidFill>
                  <a:srgbClr val="C8B8A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 3078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0" y="15087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Testing</a:t>
            </a:r>
            <a:endParaRPr lang="en-US" sz="3000" dirty="0"/>
          </a:p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Automation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486400" y="30175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8B8A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test classes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8B8A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41 test cases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8B8A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search and cart flow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E85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 — PROJECT GOAL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 to build.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24231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 comprehensive automated test suite that validates key Amazon.com user flows, from homepage navigation and search all the way through to the cart and checkout process.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800600" y="658368"/>
            <a:ext cx="36576" cy="4114800"/>
          </a:xfrm>
          <a:prstGeom prst="rect">
            <a:avLst/>
          </a:prstGeom>
          <a:solidFill>
            <a:srgbClr val="EDE8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0" y="6583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5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669280" y="7040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UI Elements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0" y="10972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 core components load correctly across all major page types.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920240"/>
            <a:ext cx="3657600" cy="10973"/>
          </a:xfrm>
          <a:prstGeom prst="rect">
            <a:avLst/>
          </a:prstGeom>
          <a:solidFill>
            <a:srgbClr val="EDE8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0" y="20482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5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669280" y="20939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Real User Flows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0" y="24871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 actual user actions: search, add to cart, proceed to checkout.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20640" y="3310128"/>
            <a:ext cx="3657600" cy="10973"/>
          </a:xfrm>
          <a:prstGeom prst="rect">
            <a:avLst/>
          </a:prstGeom>
          <a:solidFill>
            <a:srgbClr val="EDE8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20640" y="34381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5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348386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Regression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0" y="387705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 a repeatable suite that catches UI regressions immediately.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E85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 —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suite runs.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56032" y="15727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85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56032" y="221284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6032" y="25786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testng.xml fires the suite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27632" y="1810512"/>
            <a:ext cx="91440" cy="91440"/>
          </a:xfrm>
          <a:prstGeom prst="ellipse">
            <a:avLst/>
          </a:prstGeom>
          <a:solidFill>
            <a:srgbClr val="8A8070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19072" y="15727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C8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719072" y="221284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19072" y="25786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@BeforeClass starts Chrome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90672" y="1810512"/>
            <a:ext cx="91440" cy="91440"/>
          </a:xfrm>
          <a:prstGeom prst="ellipse">
            <a:avLst/>
          </a:prstGeom>
          <a:solidFill>
            <a:srgbClr val="8A8070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82112" y="15727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85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182112" y="221284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82112" y="25786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openHomePage() loads Amazon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53712" y="1810512"/>
            <a:ext cx="91440" cy="91440"/>
          </a:xfrm>
          <a:prstGeom prst="ellipse">
            <a:avLst/>
          </a:prstGeom>
          <a:solidFill>
            <a:srgbClr val="8A8070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45152" y="15727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C8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645152" y="221284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45152" y="25786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@Test methods run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16752" y="1810512"/>
            <a:ext cx="91440" cy="91440"/>
          </a:xfrm>
          <a:prstGeom prst="ellipse">
            <a:avLst/>
          </a:prstGeom>
          <a:solidFill>
            <a:srgbClr val="8A8070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08192" y="15727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85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108192" y="221284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Assert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08192" y="25786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 expected outcomes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79792" y="1810512"/>
            <a:ext cx="91440" cy="91440"/>
          </a:xfrm>
          <a:prstGeom prst="ellipse">
            <a:avLst/>
          </a:prstGeom>
          <a:solidFill>
            <a:srgbClr val="8A8070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571232" y="15727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C8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7571232" y="221284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71232" y="25786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@AfterClass closes browser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3246120"/>
            <a:ext cx="8595360" cy="27432"/>
          </a:xfrm>
          <a:prstGeom prst="rect">
            <a:avLst/>
          </a:prstGeom>
          <a:solidFill>
            <a:srgbClr val="2D35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34290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C8B8A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Classes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37947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AmazonHomePageTest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660904" y="37947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AmazonSearchTest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18888" y="37947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AmazonProductPageTest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76872" y="37947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AmazonCartTest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41422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AmazonCategoryTest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660904" y="41422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AmazonNavigationMenuTest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18888" y="41422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AmazonFooterLinksTest</a:t>
            </a:r>
            <a:endParaRPr lang="en-US" sz="100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D460193-3F03-69A7-17C6-E7AF112F185F}"/>
              </a:ext>
            </a:extLst>
          </p:cNvPr>
          <p:cNvSpPr/>
          <p:nvPr/>
        </p:nvSpPr>
        <p:spPr>
          <a:xfrm>
            <a:off x="6976872" y="4124921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</a:t>
            </a:r>
            <a:r>
              <a:rPr lang="en-US" sz="1000" dirty="0" err="1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AmazonLanguageRegionTest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E85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— CONTRIBUTIONS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built what.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36576" cy="3200400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5087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Lujens Pierre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13232" y="23957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 Full test suite review &amp; debugging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13232" y="27797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 AmazonCartTest — add-to-cart flow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31638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 Chrome profile automation setup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354787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 PowerPoint &amp; demo walkthrough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0" y="1508760"/>
            <a:ext cx="27432" cy="3200400"/>
          </a:xfrm>
          <a:prstGeom prst="rect">
            <a:avLst/>
          </a:prstGeom>
          <a:solidFill>
            <a:srgbClr val="EDE8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1508760"/>
            <a:ext cx="36576" cy="3200400"/>
          </a:xfrm>
          <a:prstGeom prst="rect">
            <a:avLst/>
          </a:prstGeom>
          <a:solidFill>
            <a:srgbClr val="2D35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47488" y="150876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Micah Hodges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47488" y="23957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 AmazonSearchTest &amp; AmazonProductPageTest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47488" y="277977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 AmazonHomePageTest &amp; AmazonCartTest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47488" y="316382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 AmazonCategoryTest &amp; AmazonNavigationMenuTest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47488" y="35478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 AmazonFooterLinksTest &amp; AmazonLanguageRegionTest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E85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— TOOLS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stack.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3977640" cy="685800"/>
          </a:xfrm>
          <a:prstGeom prst="rect">
            <a:avLst/>
          </a:prstGeom>
          <a:solidFill>
            <a:srgbClr val="2D356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36576" cy="685800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7512" y="15910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Java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" y="18653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Primary language for all test classes.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18888" y="1536192"/>
            <a:ext cx="3977640" cy="685800"/>
          </a:xfrm>
          <a:prstGeom prst="rect">
            <a:avLst/>
          </a:prstGeom>
          <a:solidFill>
            <a:srgbClr val="2D356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18888" y="1536192"/>
            <a:ext cx="36576" cy="685800"/>
          </a:xfrm>
          <a:prstGeom prst="rect">
            <a:avLst/>
          </a:prstGeom>
          <a:solidFill>
            <a:srgbClr val="C8B8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15910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83480" y="18653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@Test, @BeforeClass, dependsOnMethods.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340864"/>
            <a:ext cx="3977640" cy="685800"/>
          </a:xfrm>
          <a:prstGeom prst="rect">
            <a:avLst/>
          </a:prstGeom>
          <a:solidFill>
            <a:srgbClr val="2D356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2920" y="2340864"/>
            <a:ext cx="36576" cy="685800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23957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Selenium 4.x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" y="26700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WebDriver API — browser automation &amp; JS execution.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18888" y="2340864"/>
            <a:ext cx="3977640" cy="685800"/>
          </a:xfrm>
          <a:prstGeom prst="rect">
            <a:avLst/>
          </a:prstGeom>
          <a:solidFill>
            <a:srgbClr val="2D356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18888" y="2340864"/>
            <a:ext cx="36576" cy="685800"/>
          </a:xfrm>
          <a:prstGeom prst="rect">
            <a:avLst/>
          </a:prstGeom>
          <a:solidFill>
            <a:srgbClr val="C8B8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83480" y="23957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WebDriverManager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83480" y="26700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 ChromeDriver version handling.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3145536"/>
            <a:ext cx="3977640" cy="685800"/>
          </a:xfrm>
          <a:prstGeom prst="rect">
            <a:avLst/>
          </a:prstGeom>
          <a:solidFill>
            <a:srgbClr val="2D356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36576" cy="685800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" y="32004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Maven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" y="3474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tool and dependency management.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18888" y="3145536"/>
            <a:ext cx="3977640" cy="685800"/>
          </a:xfrm>
          <a:prstGeom prst="rect">
            <a:avLst/>
          </a:prstGeom>
          <a:solidFill>
            <a:srgbClr val="2D356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18888" y="3145536"/>
            <a:ext cx="36576" cy="685800"/>
          </a:xfrm>
          <a:prstGeom prst="rect">
            <a:avLst/>
          </a:prstGeom>
          <a:solidFill>
            <a:srgbClr val="C8B8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83480" y="32004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IntelliJ IDEA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83480" y="3474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Development, debugging, test runner.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3950208"/>
            <a:ext cx="3977640" cy="685800"/>
          </a:xfrm>
          <a:prstGeom prst="rect">
            <a:avLst/>
          </a:prstGeom>
          <a:solidFill>
            <a:srgbClr val="2D356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3950208"/>
            <a:ext cx="36576" cy="685800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" y="40050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Chrome Profile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7512" y="42793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Dedicated session with Amazon login — bypasses bot detection.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18888" y="3950208"/>
            <a:ext cx="3977640" cy="685800"/>
          </a:xfrm>
          <a:prstGeom prst="rect">
            <a:avLst/>
          </a:prstGeom>
          <a:solidFill>
            <a:srgbClr val="2D356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818888" y="3950208"/>
            <a:ext cx="36576" cy="685800"/>
          </a:xfrm>
          <a:prstGeom prst="rect">
            <a:avLst/>
          </a:prstGeom>
          <a:solidFill>
            <a:srgbClr val="C8B8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83480" y="40050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Chrome DevTools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983480" y="42793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 inspection to identify correct element selectors.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E85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CHALLENGES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9436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got in the way.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8138160" cy="27432"/>
          </a:xfrm>
          <a:prstGeom prst="rect">
            <a:avLst/>
          </a:prstGeom>
          <a:solidFill>
            <a:srgbClr val="EDE8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576" cy="3291840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3232" y="148132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5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98448" y="15361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Dynamic Web Elements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1993392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Amazon has a dynamic UI which led to IDs/classes changing, different layouts, or different search results.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8529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handled 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3232" y="3145536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 flexible locators such as CSS selectors instead of rigid XPaths. Also added helper methods like elementExists() and pageContainsAny() for particularly difficult locators.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36592" y="1481328"/>
            <a:ext cx="27432" cy="3291840"/>
          </a:xfrm>
          <a:prstGeom prst="rect">
            <a:avLst/>
          </a:prstGeom>
          <a:solidFill>
            <a:srgbClr val="EDE8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956048" y="1481328"/>
            <a:ext cx="36576" cy="3291840"/>
          </a:xfrm>
          <a:prstGeom prst="rect">
            <a:avLst/>
          </a:prstGeom>
          <a:solidFill>
            <a:srgbClr val="2D35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166360" y="148132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5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742432" y="15361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to Cart Button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166360" y="199339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A3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Add to Cart button on Amazon has opacity: 0.01 ,it exists in the DOM but Selenium's isDisplayed() returns false, causing every selector check to fail even when the button was right there on the page.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66360" y="2852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handled it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66360" y="3145536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A80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Switched from isDisplayed() checks to pure DOM presence, findElements().isEmpty(). Then used a JavaScript executor click (jsClick()) to fire the button directly, bypassing Selenium's native click which the opacity overlay was intercepting. Also built a helper that scans all /dp/ product links on the search page and tries each one until it finds a page with the button in the DOM.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E85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 — CODE SNIPPET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closer look.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72F94C-F832-9B2E-8873-A2B834BF9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06" y="1499420"/>
            <a:ext cx="3408857" cy="29131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505F98-E048-F84A-2ED6-79D9FB6FD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0871" y="1499420"/>
            <a:ext cx="3883595" cy="25961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5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E85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 —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7760"/>
            <a:ext cx="3100892" cy="274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it in action.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69153" y="905435"/>
            <a:ext cx="8171927" cy="3794581"/>
          </a:xfrm>
          <a:prstGeom prst="rect">
            <a:avLst/>
          </a:prstGeom>
          <a:solidFill>
            <a:srgbClr val="2D3561">
              <a:alpha val="40000"/>
            </a:srgbClr>
          </a:solidFill>
          <a:ln w="9525">
            <a:solidFill>
              <a:srgbClr val="8A807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09812"/>
            <a:ext cx="8138160" cy="3899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1500" dirty="0"/>
          </a:p>
        </p:txBody>
      </p:sp>
      <p:pic>
        <p:nvPicPr>
          <p:cNvPr id="7" name="Online Media 6" title="Amazon Test">
            <a:hlinkClick r:id="" action="ppaction://media"/>
            <a:extLst>
              <a:ext uri="{FF2B5EF4-FFF2-40B4-BE49-F238E27FC236}">
                <a16:creationId xmlns:a16="http://schemas.microsoft.com/office/drawing/2014/main" id="{231E29BE-31BD-E01D-2DEE-93EB88B0B2E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182154" y="896291"/>
            <a:ext cx="6745923" cy="379458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525</Words>
  <Application>Microsoft Macintosh PowerPoint</Application>
  <PresentationFormat>On-screen Show (16:9)</PresentationFormat>
  <Paragraphs>107</Paragraphs>
  <Slides>8</Slides>
  <Notes>8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Georgia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Micah Hodges</cp:lastModifiedBy>
  <cp:revision>3</cp:revision>
  <dcterms:created xsi:type="dcterms:W3CDTF">2026-04-14T12:59:35Z</dcterms:created>
  <dcterms:modified xsi:type="dcterms:W3CDTF">2026-04-14T15:08:52Z</dcterms:modified>
</cp:coreProperties>
</file>